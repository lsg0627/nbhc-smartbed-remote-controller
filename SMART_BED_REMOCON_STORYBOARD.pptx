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8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A5B4"/>
                </a:solidFill>
              </a:defRPr>
            </a:pPr>
            <a:r>
              <a:t>NINEBELL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SMART CARE BED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3282DC"/>
                </a:solidFill>
              </a:defRPr>
            </a:pPr>
            <a:r>
              <a:t>리모컨 UI/UX 상세 스토리보드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5B4"/>
                </a:solidFill>
              </a:defRPr>
            </a:pPr>
            <a:r>
              <a:t>모드별 동작 시나리오 및 네비게이션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572000"/>
            <a:ext cx="2286000" cy="64008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C8DC"/>
                </a:solidFill>
              </a:defRPr>
            </a:pPr>
            <a:r>
              <a:t>70개 로드셀</a:t>
            </a:r>
            <a:br/>
            <a:r>
              <a:t>체압 센싱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4572000"/>
            <a:ext cx="2286000" cy="64008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8B464"/>
                </a:solidFill>
              </a:defRPr>
            </a:pPr>
            <a:r>
              <a:t>10개 독립 매트리스</a:t>
            </a:r>
            <a:br/>
            <a:r>
              <a:t>상하/틸트 제어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4572000"/>
            <a:ext cx="2286000" cy="64008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3282DC"/>
                </a:solidFill>
              </a:defRPr>
            </a:pPr>
            <a:r>
              <a:t>등판/다리판</a:t>
            </a:r>
            <a:br/>
            <a:r>
              <a:t>전동 자세제어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5B4"/>
                </a:solidFill>
              </a:defRPr>
            </a:pPr>
            <a:r>
              <a:t>2026.04  |  v3.0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2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UX 설계 원칙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3657600" cy="457200"/>
          </a:xfrm>
          <a:prstGeom prst="round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정보 중심 홈 화면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00200"/>
            <a:ext cx="3657600" cy="164592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C8CDD7"/>
                </a:solidFill>
              </a:defRPr>
            </a:pPr>
            <a:r>
              <a:t>홈 화면 = 침대 상태 대시보드</a:t>
            </a:r>
            <a:br/>
            <a:r>
              <a:t>체압 히트맵 + 매트리스 단면도 + 동작 상태</a:t>
            </a:r>
            <a:br/>
            <a:r>
              <a:t>→ 켜자마자 환자 상태 파악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097280"/>
            <a:ext cx="3657600" cy="457200"/>
          </a:xfrm>
          <a:prstGeom prst="roundRect">
            <a:avLst/>
          </a:prstGeom>
          <a:solidFill>
            <a:srgbClr val="28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일관된 키 동작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600200"/>
            <a:ext cx="3657600" cy="164592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C8CDD7"/>
                </a:solidFill>
              </a:defRPr>
            </a:pPr>
            <a:r>
              <a:t>모든 모드에서 동일한 키 규칙:</a:t>
            </a:r>
            <a:br/>
            <a:r>
              <a:t>◀▶ = 항목 선택/값 조절</a:t>
            </a:r>
            <a:br/>
            <a:r>
              <a:t>▲▼ = 이동/스크롤</a:t>
            </a:r>
            <a:br/>
            <a:r>
              <a:t>확인 = 실행/정지  설정 = 저장/뒤로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097280"/>
            <a:ext cx="3657600" cy="457200"/>
          </a:xfrm>
          <a:prstGeom prst="roundRect">
            <a:avLst/>
          </a:prstGeom>
          <a:solidFill>
            <a:srgbClr val="32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현재 상태 항상 표시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00200"/>
            <a:ext cx="3657600" cy="164592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C8CDD7"/>
                </a:solidFill>
              </a:defRPr>
            </a:pPr>
            <a:r>
              <a:t>상단 상태 바: 동작 중 기능 배지</a:t>
            </a:r>
            <a:br/>
            <a:r>
              <a:t>커서 인디케이터: 현재 조작 단계 표시</a:t>
            </a:r>
            <a:br/>
            <a:r>
              <a:t>하단: 미니 체압맵 (선택적)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657600"/>
            <a:ext cx="3657600" cy="457200"/>
          </a:xfrm>
          <a:prstGeom prst="roundRect">
            <a:avLst/>
          </a:prstGeom>
          <a:solidFill>
            <a:srgbClr val="F0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안전한 네비게이션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160520"/>
            <a:ext cx="3657600" cy="164592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C8CDD7"/>
                </a:solidFill>
              </a:defRPr>
            </a:pPr>
            <a:r>
              <a:t>자동 홈 복귀: 30초 무입력 시 홈으로</a:t>
            </a:r>
            <a:br/>
            <a:r>
              <a:t>모드키 재클릭 = 홈 복귀</a:t>
            </a:r>
            <a:br/>
            <a:r>
              <a:t>설정 미저장 시 확인 프롬프트</a:t>
            </a:r>
            <a:br/>
            <a:r>
              <a:t>긴급 정지 항상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657600"/>
            <a:ext cx="3657600" cy="457200"/>
          </a:xfrm>
          <a:prstGeom prst="roundRect">
            <a:avLst/>
          </a:prstGeom>
          <a:solidFill>
            <a:srgbClr val="8C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진입 장벽 최소화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4160520"/>
            <a:ext cx="3657600" cy="164592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C8CDD7"/>
                </a:solidFill>
              </a:defRPr>
            </a:pPr>
            <a:r>
              <a:t>모드 진입 → 즉시 핵심 정보 표시</a:t>
            </a:r>
            <a:br/>
            <a:r>
              <a:t>설정은 2단계 이내 도달</a:t>
            </a:r>
            <a:br/>
            <a:r>
              <a:t>확인 한 번으로 실행 시작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8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홈 화면 — 침대 상태 대시보드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3291840" cy="5486400"/>
          </a:xfrm>
          <a:prstGeom prst="round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3017520" cy="274320"/>
          </a:xfrm>
          <a:prstGeom prst="rect">
            <a:avLst/>
          </a:prstGeom>
          <a:solidFill>
            <a:srgbClr val="19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0241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C8DC"/>
                </a:solidFill>
              </a:defRPr>
            </a:pPr>
            <a:r>
              <a:t>SMART CARE BED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02412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28B464"/>
                </a:solidFill>
              </a:defRPr>
            </a:pPr>
            <a:r>
              <a:t>● 연결됨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017520" cy="256032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8988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A0A5B4"/>
                </a:solidFill>
              </a:defRPr>
            </a:pPr>
            <a:r>
              <a:t>실시간 체압 분포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23405" y="1645920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515291" y="1645920"/>
            <a:ext cx="373597" cy="18288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907177" y="1645920"/>
            <a:ext cx="373597" cy="182880"/>
          </a:xfrm>
          <a:prstGeom prst="roundRect">
            <a:avLst/>
          </a:prstGeom>
          <a:solidFill>
            <a:srgbClr val="1E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299062" y="1645920"/>
            <a:ext cx="373597" cy="182880"/>
          </a:xfrm>
          <a:prstGeom prst="roundRect">
            <a:avLst/>
          </a:prstGeom>
          <a:solidFill>
            <a:srgbClr val="1E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690948" y="1645920"/>
            <a:ext cx="373597" cy="182880"/>
          </a:xfrm>
          <a:prstGeom prst="roundRect">
            <a:avLst/>
          </a:prstGeom>
          <a:solidFill>
            <a:srgbClr val="1E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082834" y="1645920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1520" y="1847088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123405" y="1847088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515291" y="1847088"/>
            <a:ext cx="373597" cy="18288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907177" y="1847088"/>
            <a:ext cx="373597" cy="182880"/>
          </a:xfrm>
          <a:prstGeom prst="roundRect">
            <a:avLst/>
          </a:prstGeom>
          <a:solidFill>
            <a:srgbClr val="1E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299062" y="1847088"/>
            <a:ext cx="373597" cy="182880"/>
          </a:xfrm>
          <a:prstGeom prst="roundRect">
            <a:avLst/>
          </a:prstGeom>
          <a:solidFill>
            <a:srgbClr val="1E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690948" y="1847088"/>
            <a:ext cx="373597" cy="18288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082834" y="1847088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" y="2048256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123405" y="2048256"/>
            <a:ext cx="373597" cy="18288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515291" y="2048256"/>
            <a:ext cx="373597" cy="182880"/>
          </a:xfrm>
          <a:prstGeom prst="roundRect">
            <a:avLst/>
          </a:prstGeom>
          <a:solidFill>
            <a:srgbClr val="1E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907177" y="2048256"/>
            <a:ext cx="373597" cy="182880"/>
          </a:xfrm>
          <a:prstGeom prst="roundRect">
            <a:avLst/>
          </a:prstGeom>
          <a:solidFill>
            <a:srgbClr val="B4C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299062" y="2048256"/>
            <a:ext cx="373597" cy="182880"/>
          </a:xfrm>
          <a:prstGeom prst="roundRect">
            <a:avLst/>
          </a:prstGeom>
          <a:solidFill>
            <a:srgbClr val="B4C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690948" y="2048256"/>
            <a:ext cx="373597" cy="182880"/>
          </a:xfrm>
          <a:prstGeom prst="roundRect">
            <a:avLst/>
          </a:prstGeom>
          <a:solidFill>
            <a:srgbClr val="1E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082834" y="2048256"/>
            <a:ext cx="373597" cy="18288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31520" y="2249424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123405" y="2249424"/>
            <a:ext cx="373597" cy="18288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515291" y="2249424"/>
            <a:ext cx="373597" cy="182880"/>
          </a:xfrm>
          <a:prstGeom prst="roundRect">
            <a:avLst/>
          </a:prstGeom>
          <a:solidFill>
            <a:srgbClr val="3C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907177" y="2249424"/>
            <a:ext cx="373597" cy="182880"/>
          </a:xfrm>
          <a:prstGeom prst="roundRect">
            <a:avLst/>
          </a:prstGeom>
          <a:solidFill>
            <a:srgbClr val="DC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299062" y="2249424"/>
            <a:ext cx="373597" cy="182880"/>
          </a:xfrm>
          <a:prstGeom prst="roundRect">
            <a:avLst/>
          </a:prstGeom>
          <a:solidFill>
            <a:srgbClr val="DC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2690948" y="2249424"/>
            <a:ext cx="373597" cy="182880"/>
          </a:xfrm>
          <a:prstGeom prst="roundRect">
            <a:avLst/>
          </a:prstGeom>
          <a:solidFill>
            <a:srgbClr val="3C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082834" y="2249424"/>
            <a:ext cx="373597" cy="18288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31520" y="2450592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123405" y="2450592"/>
            <a:ext cx="373597" cy="18288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515291" y="2450592"/>
            <a:ext cx="373597" cy="182880"/>
          </a:xfrm>
          <a:prstGeom prst="roundRect">
            <a:avLst/>
          </a:prstGeom>
          <a:solidFill>
            <a:srgbClr val="1E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907177" y="2450592"/>
            <a:ext cx="373597" cy="182880"/>
          </a:xfrm>
          <a:prstGeom prst="roundRect">
            <a:avLst/>
          </a:prstGeom>
          <a:solidFill>
            <a:srgbClr val="B4C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2299062" y="2450592"/>
            <a:ext cx="373597" cy="182880"/>
          </a:xfrm>
          <a:prstGeom prst="roundRect">
            <a:avLst/>
          </a:prstGeom>
          <a:solidFill>
            <a:srgbClr val="B4C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2690948" y="2450592"/>
            <a:ext cx="373597" cy="182880"/>
          </a:xfrm>
          <a:prstGeom prst="roundRect">
            <a:avLst/>
          </a:prstGeom>
          <a:solidFill>
            <a:srgbClr val="1E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3082834" y="2450592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31520" y="2651760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123405" y="2651760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515291" y="2651760"/>
            <a:ext cx="373597" cy="182880"/>
          </a:xfrm>
          <a:prstGeom prst="roundRect">
            <a:avLst/>
          </a:prstGeom>
          <a:solidFill>
            <a:srgbClr val="1E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907177" y="2651760"/>
            <a:ext cx="373597" cy="182880"/>
          </a:xfrm>
          <a:prstGeom prst="roundRect">
            <a:avLst/>
          </a:prstGeom>
          <a:solidFill>
            <a:srgbClr val="3C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2299062" y="2651760"/>
            <a:ext cx="373597" cy="182880"/>
          </a:xfrm>
          <a:prstGeom prst="roundRect">
            <a:avLst/>
          </a:prstGeom>
          <a:solidFill>
            <a:srgbClr val="3C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690948" y="2651760"/>
            <a:ext cx="373597" cy="182880"/>
          </a:xfrm>
          <a:prstGeom prst="roundRect">
            <a:avLst/>
          </a:prstGeom>
          <a:solidFill>
            <a:srgbClr val="1E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3082834" y="2651760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31520" y="2852928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123405" y="2852928"/>
            <a:ext cx="373597" cy="18288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515291" y="2852928"/>
            <a:ext cx="373597" cy="182880"/>
          </a:xfrm>
          <a:prstGeom prst="roundRect">
            <a:avLst/>
          </a:prstGeom>
          <a:solidFill>
            <a:srgbClr val="1E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907177" y="2852928"/>
            <a:ext cx="373597" cy="182880"/>
          </a:xfrm>
          <a:prstGeom prst="roundRect">
            <a:avLst/>
          </a:prstGeom>
          <a:solidFill>
            <a:srgbClr val="DC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2299062" y="2852928"/>
            <a:ext cx="373597" cy="182880"/>
          </a:xfrm>
          <a:prstGeom prst="roundRect">
            <a:avLst/>
          </a:prstGeom>
          <a:solidFill>
            <a:srgbClr val="DC3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2690948" y="2852928"/>
            <a:ext cx="373597" cy="182880"/>
          </a:xfrm>
          <a:prstGeom prst="roundRect">
            <a:avLst/>
          </a:prstGeom>
          <a:solidFill>
            <a:srgbClr val="1E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3082834" y="2852928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31520" y="3054096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1123405" y="3054096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1515291" y="3054096"/>
            <a:ext cx="373597" cy="182880"/>
          </a:xfrm>
          <a:prstGeom prst="roundRect">
            <a:avLst/>
          </a:prstGeom>
          <a:solidFill>
            <a:srgbClr val="1E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907177" y="3054096"/>
            <a:ext cx="373597" cy="182880"/>
          </a:xfrm>
          <a:prstGeom prst="roundRect">
            <a:avLst/>
          </a:prstGeom>
          <a:solidFill>
            <a:srgbClr val="3C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2299062" y="3054096"/>
            <a:ext cx="373597" cy="182880"/>
          </a:xfrm>
          <a:prstGeom prst="roundRect">
            <a:avLst/>
          </a:prstGeom>
          <a:solidFill>
            <a:srgbClr val="3C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2690948" y="3054096"/>
            <a:ext cx="373597" cy="182880"/>
          </a:xfrm>
          <a:prstGeom prst="roundRect">
            <a:avLst/>
          </a:prstGeom>
          <a:solidFill>
            <a:srgbClr val="1E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3082834" y="3054096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731520" y="3255264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1123405" y="3255264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1515291" y="3255264"/>
            <a:ext cx="373597" cy="18288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1907177" y="3255264"/>
            <a:ext cx="373597" cy="182880"/>
          </a:xfrm>
          <a:prstGeom prst="roundRect">
            <a:avLst/>
          </a:prstGeom>
          <a:solidFill>
            <a:srgbClr val="1E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2299062" y="3255264"/>
            <a:ext cx="373597" cy="182880"/>
          </a:xfrm>
          <a:prstGeom prst="roundRect">
            <a:avLst/>
          </a:prstGeom>
          <a:solidFill>
            <a:srgbClr val="1E8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2690948" y="3255264"/>
            <a:ext cx="373597" cy="18288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3082834" y="3255264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731520" y="3456432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1123405" y="3456432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1515291" y="3456432"/>
            <a:ext cx="373597" cy="18288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1907177" y="3456432"/>
            <a:ext cx="373597" cy="182880"/>
          </a:xfrm>
          <a:prstGeom prst="roundRect">
            <a:avLst/>
          </a:prstGeom>
          <a:solidFill>
            <a:srgbClr val="1E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2299062" y="3456432"/>
            <a:ext cx="373597" cy="182880"/>
          </a:xfrm>
          <a:prstGeom prst="roundRect">
            <a:avLst/>
          </a:prstGeom>
          <a:solidFill>
            <a:srgbClr val="1E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2690948" y="3456432"/>
            <a:ext cx="373597" cy="18288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3082834" y="3456432"/>
            <a:ext cx="373597" cy="182880"/>
          </a:xfrm>
          <a:prstGeom prst="round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731520" y="3749039"/>
            <a:ext cx="109728" cy="91440"/>
          </a:xfrm>
          <a:prstGeom prst="roundRect">
            <a:avLst/>
          </a:prstGeom>
          <a:solidFill>
            <a:srgbClr val="1E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68680" y="3730752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A0A5B4"/>
                </a:solidFill>
              </a:defRPr>
            </a:pPr>
            <a:r>
              <a:t>저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143000" y="3749039"/>
            <a:ext cx="109728" cy="91440"/>
          </a:xfrm>
          <a:prstGeom prst="roundRect">
            <a:avLst/>
          </a:prstGeom>
          <a:solidFill>
            <a:srgbClr val="3CB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280160" y="3730752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A0A5B4"/>
                </a:solidFill>
              </a:defRPr>
            </a:pPr>
            <a:r>
              <a:t>중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554480" y="3749039"/>
            <a:ext cx="109728" cy="91440"/>
          </a:xfrm>
          <a:prstGeom prst="roundRect">
            <a:avLst/>
          </a:prstGeom>
          <a:solidFill>
            <a:srgbClr val="DC9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691640" y="3730752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A0A5B4"/>
                </a:solidFill>
              </a:defRPr>
            </a:pPr>
            <a:r>
              <a:t>고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965960" y="3749039"/>
            <a:ext cx="109728" cy="91440"/>
          </a:xfrm>
          <a:prstGeom prst="roundRect">
            <a:avLst/>
          </a:prstGeom>
          <a:solidFill>
            <a:srgbClr val="DC3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2103120" y="3730752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DC4632"/>
                </a:solidFill>
              </a:defRPr>
            </a:pPr>
            <a:r>
              <a:t>위험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94360" y="3931920"/>
            <a:ext cx="3017520" cy="640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40080" y="3950208"/>
            <a:ext cx="13716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A0A5B4"/>
                </a:solidFill>
              </a:defRPr>
            </a:pPr>
            <a:r>
              <a:t>매트리스 단면 (10 세그먼트)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85800" y="4197096"/>
            <a:ext cx="246888" cy="137160"/>
          </a:xfrm>
          <a:prstGeom prst="round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960120" y="4222699"/>
            <a:ext cx="246888" cy="137160"/>
          </a:xfrm>
          <a:prstGeom prst="round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1234440" y="4251960"/>
            <a:ext cx="246888" cy="137160"/>
          </a:xfrm>
          <a:prstGeom prst="roundRect">
            <a:avLst/>
          </a:prstGeom>
          <a:solidFill>
            <a:srgbClr val="32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1508760" y="4240987"/>
            <a:ext cx="246888" cy="137160"/>
          </a:xfrm>
          <a:prstGeom prst="roundRect">
            <a:avLst/>
          </a:prstGeom>
          <a:solidFill>
            <a:srgbClr val="28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1783080" y="4233672"/>
            <a:ext cx="246888" cy="137160"/>
          </a:xfrm>
          <a:prstGeom prst="roundRect">
            <a:avLst/>
          </a:prstGeom>
          <a:solidFill>
            <a:srgbClr val="28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ounded Rectangle 94"/>
          <p:cNvSpPr/>
          <p:nvPr/>
        </p:nvSpPr>
        <p:spPr>
          <a:xfrm>
            <a:off x="2057400" y="4251960"/>
            <a:ext cx="246888" cy="137160"/>
          </a:xfrm>
          <a:prstGeom prst="roundRect">
            <a:avLst/>
          </a:prstGeom>
          <a:solidFill>
            <a:srgbClr val="32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2331720" y="4251960"/>
            <a:ext cx="246888" cy="137160"/>
          </a:xfrm>
          <a:prstGeom prst="roundRect">
            <a:avLst/>
          </a:prstGeom>
          <a:solidFill>
            <a:srgbClr val="32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2606040" y="4233672"/>
            <a:ext cx="246888" cy="137160"/>
          </a:xfrm>
          <a:prstGeom prst="roundRect">
            <a:avLst/>
          </a:prstGeom>
          <a:solidFill>
            <a:srgbClr val="28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2880360" y="4215384"/>
            <a:ext cx="246888" cy="137160"/>
          </a:xfrm>
          <a:prstGeom prst="round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3154679" y="4233672"/>
            <a:ext cx="246888" cy="137160"/>
          </a:xfrm>
          <a:prstGeom prst="roundRect">
            <a:avLst/>
          </a:prstGeom>
          <a:solidFill>
            <a:srgbClr val="28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85800" y="4407408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" b="0">
                <a:solidFill>
                  <a:srgbClr val="A0A5B4"/>
                </a:solidFill>
              </a:defRPr>
            </a:pPr>
            <a:r>
              <a:t>머리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108960" y="4407408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500" b="0">
                <a:solidFill>
                  <a:srgbClr val="A0A5B4"/>
                </a:solidFill>
              </a:defRPr>
            </a:pPr>
            <a:r>
              <a:t>발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94360" y="4663440"/>
            <a:ext cx="3017520" cy="36576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40080" y="4681728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A0A5B4"/>
                </a:solidFill>
              </a:defRPr>
            </a:pPr>
            <a:r>
              <a:t>동작 상태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40080" y="4846320"/>
            <a:ext cx="548640" cy="137160"/>
          </a:xfrm>
          <a:prstGeom prst="roundRect">
            <a:avLst/>
          </a:prstGeom>
          <a:solidFill>
            <a:srgbClr val="2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교대부양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234440" y="4846320"/>
            <a:ext cx="365760" cy="137160"/>
          </a:xfrm>
          <a:prstGeom prst="roundRect">
            <a:avLst/>
          </a:prstGeom>
          <a:solidFill>
            <a:srgbClr val="783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온열2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645920" y="4846320"/>
            <a:ext cx="365760" cy="137160"/>
          </a:xfrm>
          <a:prstGeom prst="roundRect">
            <a:avLst/>
          </a:prstGeom>
          <a:solidFill>
            <a:srgbClr val="28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통풍1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94360" y="5120640"/>
            <a:ext cx="3017520" cy="10972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40080" y="5138928"/>
            <a:ext cx="29260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1">
                <a:solidFill>
                  <a:srgbClr val="A0A5B4"/>
                </a:solidFill>
              </a:defRPr>
            </a:pPr>
            <a:r>
              <a:t>기능 바로가기 (버튼 아이콘 가이드)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85800" y="5349240"/>
            <a:ext cx="502920" cy="182880"/>
          </a:xfrm>
          <a:prstGeom prst="roundRect">
            <a:avLst/>
          </a:prstGeom>
          <a:solidFill>
            <a:srgbClr val="37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A0A5B4"/>
                </a:solidFill>
              </a:defRPr>
            </a:pPr>
            <a:r>
              <a:t>체압분산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234440" y="5349240"/>
            <a:ext cx="502920" cy="182880"/>
          </a:xfrm>
          <a:prstGeom prst="roundRect">
            <a:avLst/>
          </a:prstGeom>
          <a:solidFill>
            <a:srgbClr val="37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A0A5B4"/>
                </a:solidFill>
              </a:defRPr>
            </a:pPr>
            <a:r>
              <a:t>교대부양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1783080" y="5349240"/>
            <a:ext cx="502920" cy="182880"/>
          </a:xfrm>
          <a:prstGeom prst="roundRect">
            <a:avLst/>
          </a:prstGeom>
          <a:solidFill>
            <a:srgbClr val="37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A0A5B4"/>
                </a:solidFill>
              </a:defRPr>
            </a:pPr>
            <a:r>
              <a:t>마사지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2331720" y="5349240"/>
            <a:ext cx="502920" cy="182880"/>
          </a:xfrm>
          <a:prstGeom prst="roundRect">
            <a:avLst/>
          </a:prstGeom>
          <a:solidFill>
            <a:srgbClr val="37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A0A5B4"/>
                </a:solidFill>
              </a:defRPr>
            </a:pPr>
            <a:r>
              <a:t>돌봄케어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880360" y="5349240"/>
            <a:ext cx="502920" cy="182880"/>
          </a:xfrm>
          <a:prstGeom prst="roundRect">
            <a:avLst/>
          </a:prstGeom>
          <a:solidFill>
            <a:srgbClr val="37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A0A5B4"/>
                </a:solidFill>
              </a:defRPr>
            </a:pPr>
            <a:r>
              <a:t>자세제어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080" y="5623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787D8C"/>
                </a:solidFill>
              </a:defRPr>
            </a:pPr>
            <a:r>
              <a:t>해당 버튼을 누르면 기능 화면으로 이동</a:t>
            </a:r>
            <a:br/>
            <a:r>
              <a:t>30초 무입력 시 자동으로 홈 화면 복귀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14800" y="9144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【홈 화면 구성 요소】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① 상단 바: 제품명 + ESP32 연결 상태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② 체압 히트맵 (메인 영역)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 10×7 = 70셀, 실시간 갱신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 색상: 파랑(저압) → 빨강(고압)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 욕창 위험 부위 즉시 인지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③ 매트리스 단면도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 10개 세그먼트의 현재 높이/틸트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 움직이는 세그먼트 = 색상 강조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④ 동작 상태 배지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 현재 활성 기능 한눈에 표시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⑤ 기능 바로가기 가이드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 어떤 버튼으로 어디 가는지 안내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46720" y="91440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【홈 화면 키 동작】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체압분산 키 → 체압분산 모드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교대부양 키 → 교대부양 모드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마사지 키   → 마사지 모드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돌봄케어 키 → 돌봄케어 모드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자세제어 키 → 자세제어 모드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설정/저장 키 → 설정 모드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온열 키     → 온열 단계 순환 (LED+배지)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통풍 키     → 통풍 단계 순환 (LED+배지)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전원 숏클릭 → 초기위치 복귀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전원 롱클릭 → 종료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【자동 복귀 규칙】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어떤 모드에서든 30초 무입력 → 홈 복귀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(모터 동작 중에는 타이머 비활성)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046720" y="411480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【데이터 갱신 주기】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체압맵: ESP32로부터 ~500ms 주기 수신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매트리스: 각도 변경 시 즉시 수신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상태 배지: 명령 송수신 시 즉시 갱신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→ display_refresh를 주기적으로 true 설정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→ 홈 화면에서는 항상 데이터 갱신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2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공통 네비게이션 규칙 (모든 모드 적용)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669280" cy="228600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282DC"/>
                </a:solidFill>
              </a:defRPr>
            </a:pPr>
            <a:r>
              <a:t>모드 진입 / 복귀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r>
              <a:t>【진입】 해당 모드의 물리 버튼 1회 클릭</a:t>
            </a:r>
          </a:p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r>
              <a:t>  → 모드 화면으로 즉시 전환</a:t>
            </a:r>
          </a:p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r>
              <a:t>  → 이전 설정값 유지 (변경 전까지)</a:t>
            </a:r>
          </a:p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r>
              <a:t>【홈 복귀 방법 (4가지)】</a:t>
            </a:r>
          </a:p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r>
              <a:t>  ① 같은 모드 버튼 다시 클릭 → 즉시 홈</a:t>
            </a:r>
          </a:p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r>
              <a:t>  ② 다른 모드 버튼 클릭 → 해당 모드로 전환</a:t>
            </a:r>
          </a:p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r>
              <a:t>  ③ 30초 무입력 → 자동 홈 복귀</a:t>
            </a:r>
          </a:p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r>
              <a:t>  ④ 전원 숏클릭 → 초기위치 복귀 + 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669280" cy="228600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B464"/>
                </a:solidFill>
              </a:defRPr>
            </a:pPr>
            <a:r>
              <a:t>상태 바 (모든 화면 공통)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r>
              <a:t>【상단 상태 바 — 항상 표시】</a:t>
            </a:r>
          </a:p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r>
              <a:t>  동작 중인 기능을 배지로 표시:</a:t>
            </a:r>
          </a:p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r>
              <a:t>  [교대부양] [마사지3] [온열2] [통풍1]</a:t>
            </a:r>
          </a:p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r>
              <a:t>  → 어떤 화면에서든 현재 상태 확인 가능</a:t>
            </a:r>
          </a:p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r>
              <a:t>  → 배지 색상으로 기능 구분</a:t>
            </a:r>
          </a:p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r>
              <a:t>  → 동작 중인 기능이 없으면 빈 상태</a:t>
            </a:r>
          </a:p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r>
              <a:t>  온열/통풍: 키 누를 때마다 단계 순환</a:t>
            </a:r>
          </a:p>
          <a:p>
            <a:pPr>
              <a:spcAft>
                <a:spcPts val="300"/>
              </a:spcAft>
              <a:defRPr sz="1000">
                <a:solidFill>
                  <a:srgbClr val="C8CDD7"/>
                </a:solidFill>
              </a:defRPr>
            </a:pPr>
            <a:r>
              <a:t>  → 상태 바 배지 즉시 갱신 (기존 LED + 화면 표시)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657600"/>
            <a:ext cx="11612880" cy="292608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A028"/>
                </a:solidFill>
              </a:defRPr>
            </a:pPr>
            <a:r>
              <a:t>커서 시스템 개선안 (체압분산/교대부양/마사지 공통)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2286000" cy="914400"/>
          </a:xfrm>
          <a:prstGeom prst="roundRect">
            <a:avLst/>
          </a:prstGeom>
          <a:solidFill>
            <a:srgbClr val="32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① 실행 모드</a:t>
            </a:r>
            <a:br/>
            <a:r>
              <a:t>(CURSOR_MODE)</a:t>
            </a:r>
            <a:br/>
            <a:br/>
            <a:r>
              <a:t>확인=시작/정지</a:t>
            </a:r>
            <a:br/>
            <a:r>
              <a:t>◀▶=타입 전환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54680" y="4572000"/>
            <a:ext cx="457200" cy="274320"/>
          </a:xfrm>
          <a:prstGeom prst="rightArrow">
            <a:avLst/>
          </a:prstGeom>
          <a:solidFill>
            <a:srgbClr val="A0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42976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5B4"/>
                </a:solidFill>
              </a:defRPr>
            </a:pPr>
            <a:r>
              <a:t>설정키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4297680"/>
            <a:ext cx="2286000" cy="914400"/>
          </a:xfrm>
          <a:prstGeom prst="roundRect">
            <a:avLst/>
          </a:prstGeom>
          <a:solidFill>
            <a:srgbClr val="28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② 부위 선택</a:t>
            </a:r>
            <a:br/>
            <a:r>
              <a:t>(CURSOR_BODY)</a:t>
            </a:r>
            <a:br/>
            <a:br/>
            <a:r>
              <a:t>▲▼=부위 이동</a:t>
            </a:r>
            <a:br/>
            <a:r>
              <a:t>◀▶=활성/비활성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72200" y="4572000"/>
            <a:ext cx="457200" cy="274320"/>
          </a:xfrm>
          <a:prstGeom prst="rightArrow">
            <a:avLst/>
          </a:prstGeom>
          <a:solidFill>
            <a:srgbClr val="A0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42976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5B4"/>
                </a:solidFill>
              </a:defRPr>
            </a:pPr>
            <a:r>
              <a:t>확인키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4297680"/>
            <a:ext cx="2286000" cy="914400"/>
          </a:xfrm>
          <a:prstGeom prst="roundRect">
            <a:avLst/>
          </a:prstGeom>
          <a:solidFill>
            <a:srgbClr val="F0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FFFFFF"/>
                </a:solidFill>
              </a:defRPr>
            </a:pPr>
            <a:r>
              <a:t>③ 값 조절</a:t>
            </a:r>
            <a:br/>
            <a:r>
              <a:t>(CURSOR_SET)</a:t>
            </a:r>
            <a:br/>
            <a:br/>
            <a:r>
              <a:t>▲▼=항목 이동</a:t>
            </a:r>
            <a:br/>
            <a:r>
              <a:t>◀▶=값 증가/감소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5303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5B4"/>
                </a:solidFill>
              </a:defRPr>
            </a:pPr>
            <a:r>
              <a:t>확인키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5303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0A5B4"/>
                </a:solidFill>
              </a:defRPr>
            </a:pPr>
            <a:r>
              <a:t>설정키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2976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【개선 포인트】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현재 상태를 화면에 표시: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  [● 실행]  [부위]  [값]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선택된 단계를 파란색 강조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→ 사용자가 지금 어디인지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   항상 알 수 있음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설정키 = 뒤로 (항상)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확인키 = 앞으로 (항상)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C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교대부양 — 상세 동작 시나리오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2011680" cy="2926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920240" cy="18288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7472" y="978408"/>
            <a:ext cx="320040" cy="137160"/>
          </a:xfrm>
          <a:prstGeom prst="roundRect">
            <a:avLst/>
          </a:prstGeom>
          <a:solidFill>
            <a:srgbClr val="783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온열2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828800" cy="274320"/>
          </a:xfrm>
          <a:prstGeom prst="roundRect">
            <a:avLst/>
          </a:prstGeom>
          <a:solidFill>
            <a:srgbClr val="3C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교대부양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[● 일반] [집중] [수면]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교대부양은 에어셀을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교대로 부양하여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욕창을 예방합니다.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◀▶ 모드 선택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 시작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설정 세부설정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8B464"/>
                </a:solidFill>
              </a:defRPr>
            </a:pPr>
            <a:r>
              <a:t>① 모드 진입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2062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교대부양 버튼 클릭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→ 타입 선택 화면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→ 간단한 기능 설명 표시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→ ◀▶로 일반/집중/수면 전환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23160" y="2103120"/>
            <a:ext cx="274320" cy="228600"/>
          </a:xfrm>
          <a:prstGeom prst="rightArrow">
            <a:avLst/>
          </a:prstGeom>
          <a:solidFill>
            <a:srgbClr val="A0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34640" y="914400"/>
            <a:ext cx="2011680" cy="2926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80360" y="960120"/>
            <a:ext cx="1920240" cy="18288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07792" y="978408"/>
            <a:ext cx="320040" cy="137160"/>
          </a:xfrm>
          <a:prstGeom prst="roundRect">
            <a:avLst/>
          </a:prstGeom>
          <a:solidFill>
            <a:srgbClr val="783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온열2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1188720"/>
            <a:ext cx="1828800" cy="274320"/>
          </a:xfrm>
          <a:prstGeom prst="roundRect">
            <a:avLst/>
          </a:prstGeom>
          <a:solidFill>
            <a:srgbClr val="3C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교대부양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55448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[일반] [● 집중] [수면]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집중 모드: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높은 압력의 부위를 집중적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으로 부양합니다.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▶ 확인: 시작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▶ 설정: 세부설정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8B464"/>
                </a:solidFill>
              </a:defRPr>
            </a:pPr>
            <a:r>
              <a:t>② 타입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2062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◀▶로 타입 변경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→ 각 타입별 설명 표시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→ 확인키: 즉시 시작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→ 설정키: 세부설정 진입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83480" y="2103120"/>
            <a:ext cx="274320" cy="228600"/>
          </a:xfrm>
          <a:prstGeom prst="rightArrow">
            <a:avLst/>
          </a:prstGeom>
          <a:solidFill>
            <a:srgbClr val="A0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92040" y="1828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0A028"/>
                </a:solidFill>
              </a:defRPr>
            </a:pPr>
            <a:r>
              <a:t>설정키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914400"/>
            <a:ext cx="2011680" cy="2926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40680" y="960120"/>
            <a:ext cx="1920240" cy="18288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468112" y="978408"/>
            <a:ext cx="320040" cy="137160"/>
          </a:xfrm>
          <a:prstGeom prst="roundRect">
            <a:avLst/>
          </a:prstGeom>
          <a:solidFill>
            <a:srgbClr val="783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온열2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1188720"/>
            <a:ext cx="1828800" cy="274320"/>
          </a:xfrm>
          <a:prstGeom prst="roundRect">
            <a:avLst/>
          </a:prstGeom>
          <a:solidFill>
            <a:srgbClr val="3C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교대부양 - 집중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155448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[실행] [● 부위] [값]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● 머리    활성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상체(상) 활성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상체(하) 비활성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다리    활성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▲▼ 부위 이동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◀▶ 활성/비활성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확인: 값 조절 →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설정: ← 돌아가기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A028"/>
                </a:solidFill>
              </a:defRPr>
            </a:pPr>
            <a:r>
              <a:t>③ 부위 선택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2062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▲▼: 부위 이동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◀▶: 활성/비활성 토글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확인키: 값 조절 모드로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설정키: 타입 선택으로 복귀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543800" y="2103120"/>
            <a:ext cx="274320" cy="228600"/>
          </a:xfrm>
          <a:prstGeom prst="rightArrow">
            <a:avLst/>
          </a:prstGeom>
          <a:solidFill>
            <a:srgbClr val="A0A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52360" y="1828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0A028"/>
                </a:solidFill>
              </a:defRPr>
            </a:pPr>
            <a:r>
              <a:t>확인키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914400"/>
            <a:ext cx="2011680" cy="2926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01000" y="960120"/>
            <a:ext cx="1920240" cy="18288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028431" y="978408"/>
            <a:ext cx="320040" cy="137160"/>
          </a:xfrm>
          <a:prstGeom prst="roundRect">
            <a:avLst/>
          </a:prstGeom>
          <a:solidFill>
            <a:srgbClr val="783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온열2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9" y="1188720"/>
            <a:ext cx="1828800" cy="274320"/>
          </a:xfrm>
          <a:prstGeom prst="roundRect">
            <a:avLst/>
          </a:prstGeom>
          <a:solidFill>
            <a:srgbClr val="3C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교대부양 - 집중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9" y="155448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[실행] [부위] [● 값]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[ 머리 ] 설정: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● 시간:  ◀ 30분 ▶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높이:     3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RPM:     2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▲▼ 항목 이동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◀▶ 값 조절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확인: ← 부위선택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C4632"/>
                </a:solidFill>
              </a:defRPr>
            </a:pPr>
            <a:r>
              <a:t>④ 값 조절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2062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▲▼: 시간/높이/RPM 이동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◀▶: 값 감소/증가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확인키: 부위 선택으로 복귀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설정키: 저장 후 실행모드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91440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【설정값 범위】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시간: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 10~120분 (10분 단위)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높이: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 1~6 단계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RPM: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 1~3 단계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각 부위별 독립 설정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타입(일반/집중/수면)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별 독립 저장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39319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【복귀 시나리오】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교대부양 키 재클릭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→ 홈 복귀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다른 모드키 클릭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→ 해당 모드로 전환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30초 무입력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→ 자동 홈 복귀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확인키 (실행모드에서)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→ 시작/정지 토글 후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   홈 복귀 (제안)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C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교대부양 — 실행 중 및 상태 전이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2011680" cy="2926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920240" cy="18288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7472" y="978408"/>
            <a:ext cx="320040" cy="137160"/>
          </a:xfrm>
          <a:prstGeom prst="roundRect">
            <a:avLst/>
          </a:prstGeom>
          <a:solidFill>
            <a:srgbClr val="2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교대부양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978408"/>
            <a:ext cx="320040" cy="137160"/>
          </a:xfrm>
          <a:prstGeom prst="roundRect">
            <a:avLst/>
          </a:prstGeom>
          <a:solidFill>
            <a:srgbClr val="783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온열2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1828800" cy="274320"/>
          </a:xfrm>
          <a:prstGeom prst="roundRect">
            <a:avLst/>
          </a:prstGeom>
          <a:solidFill>
            <a:srgbClr val="3C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교대부양 - 집중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     ▶ 동작 중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┌─ 집중 모드 ─┐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│              │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│  에어셀 교대  │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│  부양 중...   │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│              │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└──────────┘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확인: 일시정지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교대부양: 홈으로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8B464"/>
                </a:solidFill>
              </a:defRPr>
            </a:pPr>
            <a:r>
              <a:t>⑤ 동작 중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23160" y="2103120"/>
            <a:ext cx="274320" cy="228600"/>
          </a:xfrm>
          <a:prstGeom prst="rightArrow">
            <a:avLst/>
          </a:prstGeom>
          <a:solidFill>
            <a:srgbClr val="F0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77440" y="18288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0A028"/>
                </a:solidFill>
              </a:defRPr>
            </a:pPr>
            <a:r>
              <a:t>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914400"/>
            <a:ext cx="2011680" cy="2926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80360" y="960120"/>
            <a:ext cx="1920240" cy="18288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907792" y="978408"/>
            <a:ext cx="320040" cy="137160"/>
          </a:xfrm>
          <a:prstGeom prst="roundRect">
            <a:avLst/>
          </a:prstGeom>
          <a:solidFill>
            <a:srgbClr val="787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교대⏸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55264" y="978408"/>
            <a:ext cx="320040" cy="137160"/>
          </a:xfrm>
          <a:prstGeom prst="roundRect">
            <a:avLst/>
          </a:prstGeom>
          <a:solidFill>
            <a:srgbClr val="783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온열2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1188720"/>
            <a:ext cx="1828800" cy="274320"/>
          </a:xfrm>
          <a:prstGeom prst="roundRect">
            <a:avLst/>
          </a:prstGeom>
          <a:solidFill>
            <a:srgbClr val="3C96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교대부양 - 집중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155448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    ❚❚ 일시정지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┌─ 집중 모드 ─┐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│              │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│  일시정지됨   │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│              │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│              │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└──────────┘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확인: 재시작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교대부양: 홈으로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A028"/>
                </a:solidFill>
              </a:defRPr>
            </a:pPr>
            <a:r>
              <a:t>⑥ 일시정지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83480" y="2103120"/>
            <a:ext cx="274320" cy="228600"/>
          </a:xfrm>
          <a:prstGeom prst="rightArrow">
            <a:avLst/>
          </a:prstGeom>
          <a:solidFill>
            <a:srgbClr val="28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1828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28B464"/>
                </a:solidFill>
              </a:defRPr>
            </a:pPr>
            <a:r>
              <a:t>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60" y="914400"/>
            <a:ext cx="2011680" cy="2926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40680" y="960120"/>
            <a:ext cx="1920240" cy="18288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468112" y="978408"/>
            <a:ext cx="320040" cy="137160"/>
          </a:xfrm>
          <a:prstGeom prst="roundRect">
            <a:avLst/>
          </a:prstGeom>
          <a:solidFill>
            <a:srgbClr val="286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교대부양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15584" y="978408"/>
            <a:ext cx="320040" cy="137160"/>
          </a:xfrm>
          <a:prstGeom prst="roundRect">
            <a:avLst/>
          </a:prstGeom>
          <a:solidFill>
            <a:srgbClr val="783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온열2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1188720"/>
            <a:ext cx="1828800" cy="274320"/>
          </a:xfrm>
          <a:prstGeom prst="roundRect">
            <a:avLst/>
          </a:prstGeom>
          <a:solidFill>
            <a:srgbClr val="28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홈 화면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155448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[체압 히트맵]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(실시간 표시)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[매트리스 단면]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[교대부양] [온열2]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↑ 동작 중 표시!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교대부양 키: 제어 복귀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확인: 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282DC"/>
                </a:solidFill>
              </a:defRPr>
            </a:pPr>
            <a:r>
              <a:t>홈 (동작 계속)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914400"/>
            <a:ext cx="4114800" cy="274320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79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상태 전이도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1463040"/>
            <a:ext cx="1097280" cy="457200"/>
          </a:xfrm>
          <a:prstGeom prst="roundRect">
            <a:avLst/>
          </a:prstGeom>
          <a:solidFill>
            <a:srgbClr val="32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정지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235440" y="1554480"/>
            <a:ext cx="274320" cy="182880"/>
          </a:xfrm>
          <a:prstGeom prst="rightArrow">
            <a:avLst/>
          </a:prstGeom>
          <a:solidFill>
            <a:srgbClr val="28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0" y="137160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0A5B4"/>
                </a:solidFill>
              </a:defRPr>
            </a:pPr>
            <a:r>
              <a:t>확인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1463040"/>
            <a:ext cx="1097280" cy="457200"/>
          </a:xfrm>
          <a:prstGeom prst="roundRect">
            <a:avLst/>
          </a:prstGeom>
          <a:solidFill>
            <a:srgbClr val="28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동작중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10058400" y="2011680"/>
            <a:ext cx="182880" cy="274320"/>
          </a:xfrm>
          <a:prstGeom prst="downArrow">
            <a:avLst/>
          </a:prstGeom>
          <a:solidFill>
            <a:srgbClr val="F0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32720" y="210312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A0A5B4"/>
                </a:solidFill>
              </a:defRPr>
            </a:pPr>
            <a:r>
              <a:t>확인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2377440"/>
            <a:ext cx="1097280" cy="457200"/>
          </a:xfrm>
          <a:prstGeom prst="roundRect">
            <a:avLst/>
          </a:prstGeom>
          <a:solidFill>
            <a:srgbClr val="F0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일시정지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235440" y="2468880"/>
            <a:ext cx="274320" cy="182880"/>
          </a:xfrm>
          <a:prstGeom prst="rightArrow">
            <a:avLst/>
          </a:prstGeom>
          <a:solidFill>
            <a:srgbClr val="28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0" y="2331720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0A5B4"/>
                </a:solidFill>
              </a:defRPr>
            </a:pPr>
            <a:r>
              <a:t>확인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292608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홈 복귀 시: 동작은 계속됨 (배지 표시)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교대부양 키 재클릭: 제어 화면 복귀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3840480"/>
            <a:ext cx="4114800" cy="2560320"/>
          </a:xfrm>
          <a:prstGeom prst="roundRect">
            <a:avLst/>
          </a:prstGeom>
          <a:solidFill>
            <a:srgbClr val="283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55279" y="39319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B464"/>
                </a:solidFill>
              </a:defRPr>
            </a:pPr>
            <a:r>
              <a:t>★ 개선 제안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4297680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【현재 문제】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확인키를 누르면 시작되지만,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홈으로 돌아가지 않아 사용자가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실행 여부를 확인하기 어려움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【제안】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확인키로 시작 → 2초 후 자동 홈 복귀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→ 홈에서 동작 상태 배지로 확인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→ 교대부양 키로 다시 진입하면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   정지/설정 변경 가능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또는: 시작 후 동작 중 화면 유지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→ 교대부양 키/30초 후 홈 복귀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체압분산 — 상세 동작 시나리오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2011680" cy="2926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920240" cy="18288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1828800" cy="274320"/>
          </a:xfrm>
          <a:prstGeom prst="roundRect">
            <a:avLst/>
          </a:prstGeom>
          <a:solidFill>
            <a:srgbClr val="3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체압분산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체압분산은 높은 압력의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부위를 자동으로 감지하여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압력을 분산합니다.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● 머리    활성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상체(상) 활성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상체(하) 비활성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다리    활성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확인: 시작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설정: 세부설정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8B464"/>
                </a:solidFill>
              </a:defRPr>
            </a:pPr>
            <a:r>
              <a:t>① 진입 화면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914400"/>
            <a:ext cx="2011680" cy="2926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97479" y="960120"/>
            <a:ext cx="1920240" cy="18288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43200" y="1188720"/>
            <a:ext cx="1828800" cy="274320"/>
          </a:xfrm>
          <a:prstGeom prst="roundRect">
            <a:avLst/>
          </a:prstGeom>
          <a:solidFill>
            <a:srgbClr val="3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체압분산 - 설정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55448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[실행] [● 부위] [값]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● 머리    [활성]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상체(상) [활성]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상체(하) [비활성]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다리    [활성]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▲▼ 부위 이동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◀▶ 활성/비활성 토글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 → 값 조절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설정 ← 돌아가기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A028"/>
                </a:solidFill>
              </a:defRPr>
            </a:pPr>
            <a:r>
              <a:t>② 부위 선택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914400"/>
            <a:ext cx="2011680" cy="2926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74920" y="960120"/>
            <a:ext cx="1920240" cy="18288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120640" y="1188720"/>
            <a:ext cx="1828800" cy="274320"/>
          </a:xfrm>
          <a:prstGeom prst="roundRect">
            <a:avLst/>
          </a:prstGeom>
          <a:solidFill>
            <a:srgbClr val="3C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체압분산 - 설정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55448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[실행] [부위] [● 값]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[ 머리 ] 설정: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● 레벨: ◀ 3 ▶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속도:    2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▲▼ 항목 이동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◀▶ 값 조절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 ← 부위선택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설정: 저장 후 실행모드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C4632"/>
                </a:solidFill>
              </a:defRPr>
            </a:pPr>
            <a:r>
              <a:t>③ 값 조절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9144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【체압분산 특징】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교대부양과 달리 타입 선택 없음 (1가지 모드)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설정 항목: 레벨(1~6), 속도(1~6) — 2개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4개 부위별 독립 설정 가능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【네비게이션 흐름】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체압분산키 → 진입 화면 (기능 설명 + 부위 목록)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└→ 확인키: 현재 설정으로 시작 → 홈 복귀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└→ 설정키: 부위 선택 모드 진입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     └→ ▲▼: 부위 이동, ◀▶: 활성/비활성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     └→ 확인키: 값 조절 모드 진입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          └→ ▲▼: 레벨/속도 이동, ◀▶: 값 조절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          └→ 확인키: 부위 선택으로 복귀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     └→ 설정키: 저장 후 실행 모드 복귀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93192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【복귀 시나리오】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체압분산 키 재클릭 → 홈 복귀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다른 모드 키 → 해당 모드 전환 (체압분산 동작 계속)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30초 무입력 → 자동 홈 복귀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확인키로 시작 → 동작 중 화면 → 홈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【동작 중 홈에서】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상태 배지: [체압분산] 표시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체압맵에서 분산 효과 실시간 확인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C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마사지 — 상세 동작 시나리오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2011680" cy="2926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920240" cy="18288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47472" y="978408"/>
            <a:ext cx="320040" cy="137160"/>
          </a:xfrm>
          <a:prstGeom prst="roundRect">
            <a:avLst/>
          </a:prstGeom>
          <a:solidFill>
            <a:srgbClr val="643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마사지5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1828800" cy="274320"/>
          </a:xfrm>
          <a:prstGeom prst="roundRect">
            <a:avLst/>
          </a:prstGeom>
          <a:solidFill>
            <a:srgbClr val="8C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마사지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 ◀ [마사지 3] ▶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  (아이콘 표시)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마사지 3번: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맥파 마사지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◀▶ 타입 선택 (1~12)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확인: 시작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설정: 세부설정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8B464"/>
                </a:solidFill>
              </a:defRPr>
            </a:pPr>
            <a:r>
              <a:t>① 타입 선택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914400"/>
            <a:ext cx="2011680" cy="2926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97479" y="960120"/>
            <a:ext cx="1920240" cy="18288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24912" y="978408"/>
            <a:ext cx="320040" cy="137160"/>
          </a:xfrm>
          <a:prstGeom prst="roundRect">
            <a:avLst/>
          </a:prstGeom>
          <a:solidFill>
            <a:srgbClr val="502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마사지3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188720"/>
            <a:ext cx="1828800" cy="274320"/>
          </a:xfrm>
          <a:prstGeom prst="roundRect">
            <a:avLst/>
          </a:prstGeom>
          <a:solidFill>
            <a:srgbClr val="8C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마사지 3 - 동작중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55448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 ◀ [마사지 3] ▶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  (아이콘 표시)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   ▶ 동작 중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시간: 30분 남음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확인: 일시정지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마사지: 홈 (동작유지)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다른 마사지 선택: 전환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8B464"/>
                </a:solidFill>
              </a:defRPr>
            </a:pPr>
            <a:r>
              <a:t>② 동작 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9144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【마사지 12종】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1. 리듬타입    7. 타입7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2. 물결        8. 타입8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3. 맥파        9. 타입9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4. 타입4      10. 타입10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5. 타입5      11. 타입11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6. 타입6      12. 타입12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◀▶로 순환 선택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각 타입별 전용 아이콘 표시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9319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【마사지 특수 동작】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동시 동작: 마사지 + 교대부양 가능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마사지 동작 중 다른 모드 → 마사지 계속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홈에서 상태 배지로 확인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같은 마사지 재선택 → 정지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다른 마사지 선택 → 기존 정지 + 새로 시작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9144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【설정 항목】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시간: 10~120분 (10분 단위)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높이: 30~170 (30단위, 최대170)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4개 부위별 독립 설정: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머리 / 상체(상) / 상체(하) / 다리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【네비게이션】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마사지키 → 타입 선택 (◀▶)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└→ 확인키: 시작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└→ 설정키: 부위설정 진입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└→ 부위설정 → 값조절 (공통 패턴)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4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돌봄케어 — 상세 동작 시나리오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2011680" cy="2926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1920240" cy="18288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1828800" cy="274320"/>
          </a:xfrm>
          <a:prstGeom prst="roundRect">
            <a:avLst/>
          </a:prstGeom>
          <a:solidFill>
            <a:srgbClr val="B4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돌봄케어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[● 머리감싸기] [배변]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(머리감싸기 이미지)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머리감싸기 모드: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환자의 머리를 안전하게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감싸는 자세를 만듭니다.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◀▶ 모드 전환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확인: 시작/정지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8B464"/>
                </a:solidFill>
              </a:defRPr>
            </a:pPr>
            <a:r>
              <a:t>① 모드 선택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914400"/>
            <a:ext cx="2011680" cy="2926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97479" y="960120"/>
            <a:ext cx="1920240" cy="18288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743200" y="1188720"/>
            <a:ext cx="1828800" cy="274320"/>
          </a:xfrm>
          <a:prstGeom prst="roundRect">
            <a:avLst/>
          </a:prstGeom>
          <a:solidFill>
            <a:srgbClr val="B4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돌봄케어 - 배변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55448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[머리감싸기] [● 배변]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(배변 모드 이미지)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배변 모드: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배변 보조 자세를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만들어줍니다.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◀▶ 모드 전환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확인: 시작/정지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A028"/>
                </a:solidFill>
              </a:defRPr>
            </a:pPr>
            <a:r>
              <a:t>② 배변 선택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914400"/>
            <a:ext cx="2011680" cy="2926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74920" y="960120"/>
            <a:ext cx="1920240" cy="18288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102352" y="978408"/>
            <a:ext cx="320040" cy="137160"/>
          </a:xfrm>
          <a:prstGeom prst="roundRect">
            <a:avLst/>
          </a:prstGeom>
          <a:solidFill>
            <a:srgbClr val="78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배변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188720"/>
            <a:ext cx="1828800" cy="274320"/>
          </a:xfrm>
          <a:prstGeom prst="roundRect">
            <a:avLst/>
          </a:prstGeom>
          <a:solidFill>
            <a:srgbClr val="B4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돌봄케어 - 배변 실행중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55448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[머리감싸기] [● 배변]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(실행 중 이미지)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   ▶ 동작 중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◀ 좌틸팅  우틸팅 ▶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   [평탄화]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확인: 정지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C4632"/>
                </a:solidFill>
              </a:defRPr>
            </a:pPr>
            <a:r>
              <a:t>③ 실행 중 (틸팅)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9144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【돌봄케어 특징 — 다른 모드와 다른 점】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커서 3단계 없음 (설정 항목 없음)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확인키 = ON/OFF 토글 (시작/정지만)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◀▶ = 모드 전환 (머리감싸기 ↔ 배변)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【배변 모드 실행 중 특수 키】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◀ = 좌측 틸팅 (CMD2_MOVE_LEFT)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▶ = 우측 틸팅 (CMD2_MOVE_RIGHT)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▼ = 평탄화 (CMD2_MOVE_CENTER)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확인 = 동작 정지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★ 개선 제안: ▲▼로 머리감싸기↔배변 전환 추가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(현재 UP/DOWN 미구현 → 네비게이션 추가)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93192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【네비게이션 흐름】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돌봄케어키 → 모드 선택 (◀▶)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└→ 머리감싸기 선택 → 확인: 시작/정지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└→ 배변 선택 → 확인: 시작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     └→ 실행 중: ◀▶=틸팅, ▼=평탄화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     └→ 확인: 정지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돌봄케어 키 재클릭 → 홈 복귀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실행 중 다른 모드 → 홈 (돌봄 정지됨)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• 30초 무입력 → 자동 홈 복귀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2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자세제어 — 상세 동작 시나리오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228600"/>
            <a:ext cx="640080" cy="365760"/>
          </a:xfrm>
          <a:prstGeom prst="roundRect">
            <a:avLst/>
          </a:prstGeom>
          <a:solidFill>
            <a:srgbClr val="DC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2011680" cy="2926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1920240" cy="18288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7472" y="978408"/>
            <a:ext cx="320040" cy="137160"/>
          </a:xfrm>
          <a:prstGeom prst="roundRect">
            <a:avLst/>
          </a:prstGeom>
          <a:solidFill>
            <a:srgbClr val="783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온열2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188720"/>
            <a:ext cx="1828800" cy="274320"/>
          </a:xfrm>
          <a:prstGeom prst="roundRect">
            <a:avLst/>
          </a:prstGeom>
          <a:solidFill>
            <a:srgbClr val="32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자세제어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[등판] [다리판] [● 등/다리]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  ▲ (누르면 올림)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(침대 일러스트)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(등판+다리판 표시)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  ▼ (누르면 내림)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◀▶ 탭 전환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확인: 전체 정지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8B464"/>
                </a:solidFill>
              </a:defRPr>
            </a:pPr>
            <a:r>
              <a:t>① 수동 제어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914400"/>
            <a:ext cx="2011680" cy="2926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97479" y="960120"/>
            <a:ext cx="1920240" cy="18288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24912" y="978408"/>
            <a:ext cx="320040" cy="137160"/>
          </a:xfrm>
          <a:prstGeom prst="roundRect">
            <a:avLst/>
          </a:prstGeom>
          <a:solidFill>
            <a:srgbClr val="783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온열2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188720"/>
            <a:ext cx="1828800" cy="274320"/>
          </a:xfrm>
          <a:prstGeom prst="roundRect">
            <a:avLst/>
          </a:prstGeom>
          <a:solidFill>
            <a:srgbClr val="32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자세제어 - 프리셋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55448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[등판][다리][등/다리][● 셋]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● 식사 모드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수면 모드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안락 모드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긴급 평탄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▲▼ 프리셋 선택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확인: 실행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5176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282DC"/>
                </a:solidFill>
              </a:defRPr>
            </a:pPr>
            <a:r>
              <a:t>② 프리셋 선택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914400"/>
            <a:ext cx="2011680" cy="292608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74920" y="960120"/>
            <a:ext cx="1920240" cy="182880"/>
          </a:xfrm>
          <a:prstGeom prst="rect">
            <a:avLst/>
          </a:prstGeom>
          <a:solidFill>
            <a:srgbClr val="0F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02352" y="978408"/>
            <a:ext cx="320040" cy="137160"/>
          </a:xfrm>
          <a:prstGeom prst="roundRect">
            <a:avLst/>
          </a:prstGeom>
          <a:solidFill>
            <a:srgbClr val="285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자세제어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9824" y="978408"/>
            <a:ext cx="320040" cy="137160"/>
          </a:xfrm>
          <a:prstGeom prst="roundRect">
            <a:avLst/>
          </a:prstGeom>
          <a:solidFill>
            <a:srgbClr val="783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500" b="0">
                <a:solidFill>
                  <a:srgbClr val="FFFFFF"/>
                </a:solidFill>
              </a:defRPr>
            </a:pPr>
            <a:r>
              <a:t>온열2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188720"/>
            <a:ext cx="1828800" cy="274320"/>
          </a:xfrm>
          <a:prstGeom prst="roundRect">
            <a:avLst/>
          </a:prstGeom>
          <a:solidFill>
            <a:srgbClr val="32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자세제어 - 식사모드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554480"/>
            <a:ext cx="1828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 ▶ 식사 모드 실행 중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등판: ████████░░ 80%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다리: ███░░░░░░░ 30%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1단계: 등판 올림 중...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2단계: 다리판 올림 대기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  3단계: 안정 후 다리 내림</a:t>
            </a:r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10"/>
              </a:spcAft>
              <a:defRPr sz="700">
                <a:solidFill>
                  <a:srgbClr val="C8CDD7"/>
                </a:solidFill>
              </a:defRPr>
            </a:pPr>
            <a:r>
              <a:t>확인: 중지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9319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0A028"/>
                </a:solidFill>
              </a:defRPr>
            </a:pPr>
            <a:r>
              <a:t>③ 프리셋 실행 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9144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【수동 제어 (등판/다리판/등+다리 탭)】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▲ 키: 누르는 동안 올림, 떼면 즉시 정지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▼ 키: 누르는 동안 내림, 떼면 즉시 정지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◀▶ 키: 등판 → 다리판 → 등/다리 → 프리셋 탭 전환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확인 키: 모터 전체 정지 (안전 정지)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★ 디바운스 없이 raw SPI 상태 감지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   (눌리는 즉시 동작, 떼는 즉시 정지)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【프리셋 탭 — NEW】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▲▼: 프리셋 항목 선택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확인: 선택된 프리셋 실행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실행 중 확인: 즉시 정지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93192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【프리셋 동작 상세】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식사: 등판 최대 → 다리판 올림(밀림방지) → 안정 후 다리 내림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수면: 전체 평탄화 (모든 세그먼트 0°)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안락: 등판 30° + 다리판 15° (TV 시청 자세)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긴급평탄: 모든 세그먼트 즉시 0° (응급 상황)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→ 프리셋은 ESP32 측에서 시퀀스 제어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→ 리모컨은 명령 전송 + 진행률 표시</a:t>
            </a:r>
          </a:p>
          <a:p>
            <a:pPr>
              <a:spcAft>
                <a:spcPts val="270"/>
              </a:spcAft>
              <a:defRPr sz="900">
                <a:solidFill>
                  <a:srgbClr val="C8CDD7"/>
                </a:solidFill>
              </a:defRPr>
            </a:pPr>
            <a:r>
              <a:t>→ 실행 중 확인키로 언제든 중지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0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dirty="0" err="1"/>
              <a:t>온열</a:t>
            </a:r>
            <a:r>
              <a:rPr dirty="0"/>
              <a:t>/</a:t>
            </a:r>
            <a:r>
              <a:rPr dirty="0" err="1"/>
              <a:t>통풍</a:t>
            </a:r>
            <a:r>
              <a:rPr dirty="0"/>
              <a:t> · </a:t>
            </a:r>
            <a:r>
              <a:rPr dirty="0" err="1"/>
              <a:t>설정</a:t>
            </a:r>
            <a:r>
              <a:rPr dirty="0"/>
              <a:t> · </a:t>
            </a:r>
            <a:r>
              <a:rPr dirty="0" err="1"/>
              <a:t>종료</a:t>
            </a:r>
            <a:r>
              <a:rPr dirty="0"/>
              <a:t> · </a:t>
            </a:r>
            <a:r>
              <a:rPr dirty="0" err="1"/>
              <a:t>낙상경고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2743200" cy="256032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A028"/>
                </a:solidFill>
              </a:defRPr>
            </a:pPr>
            <a:r>
              <a:t>온열 / 통풍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【화면 전환 없이 동작】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온열 키 누를 때마다: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OFF → 1단 → 2단 → 3단 → OFF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통풍 키 누를 때마다: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OFF → 1단 → 2단 → 3단 → OFF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★ 개선: LED + 상태 바 배지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  기존: LED만 표시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  개선: 상태 바에도 [온열2] 표시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  → 어떤 화면에서든 확인 가능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914400"/>
            <a:ext cx="2743200" cy="256032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005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6478"/>
                </a:solidFill>
              </a:defRPr>
            </a:pPr>
            <a:r>
              <a:t>설정 / 초기화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3716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【설정 모드 (홈에서만 진입)】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설정/저장 키 → 설정 화면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  ◀▶: 매뉴얼 / 자가진단 선택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  확인: 자가진단 실행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【초기화 (설정 모드 내)】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★ 초기화 버튼은 자세제어로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   재할당되었으므로,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   초기화는 설정 메뉴 내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   서브 메뉴로 이동 제안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설정 키 재클릭 → 홈 복귀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914400"/>
            <a:ext cx="2743200" cy="256032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005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4632"/>
                </a:solidFill>
              </a:defRPr>
            </a:pPr>
            <a:r>
              <a:t>종료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【전원 롱클릭 (~3초)】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3초 도달 즉시 종료 시작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(릴리즈 대기 없음)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→ "종료합니다." 화면 표시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→ 모든 키 입력 차단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→ 초기위치 복귀 명령 전송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→ ESP32 ACK 수신 후 LCD OFF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【전원 숏클릭】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→ 초기위치 복귀 + 홈 화면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→ 동작 중 기능 모두 정지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914400"/>
            <a:ext cx="2743200" cy="256032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0" y="1005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4632"/>
                </a:solidFill>
              </a:defRPr>
            </a:pPr>
            <a:r>
              <a:t>낙상 경고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37160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【ESP32 트리거】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ESP32에서 CMD2_FALL_ALERT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수신 → 즉시 경고 화면 전환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→ 빨간 원 + "!" + "낙상 경고"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→ 확인키와 전원키만 동작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→ 나머지 모든 키 차단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【해제】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확인키 → CMD2_FALL_CLEAR 전송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→ 홈 화면 복귀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endParaRPr/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★ 버그 수정: 억제 플래그 추가</a:t>
            </a:r>
          </a:p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  (재수신 방지 5초 타임아웃)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749039"/>
            <a:ext cx="11612880" cy="914400"/>
          </a:xfrm>
          <a:prstGeom prst="roundRect">
            <a:avLst/>
          </a:prstGeom>
          <a:solidFill>
            <a:srgbClr val="282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DC"/>
                </a:solidFill>
              </a:defRPr>
            </a:pPr>
            <a:r>
              <a:t>★ 자동 홈 복귀 규칙 (모든 모드 공통)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"/>
              </a:spcAft>
              <a:defRPr sz="800">
                <a:solidFill>
                  <a:srgbClr val="C8CDD7"/>
                </a:solidFill>
              </a:defRPr>
            </a:pPr>
            <a:r>
              <a:t>30초 무입력 → 홈 화면 자동 복귀 (모터/마사지 등 동작 중이면 타이머 비활성) | 모드 키 재클릭 → 즉시 홈 복귀 | 다른 모드 키 → 해당 모드 직접 전환 | 전원 숏클릭 → 전체 정지 + 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2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모드별 키 동작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914400"/>
            <a:ext cx="1371600" cy="320040"/>
          </a:xfrm>
          <a:prstGeom prst="roundRect">
            <a:avLst/>
          </a:prstGeom>
          <a:solidFill>
            <a:srgbClr val="32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모드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91056" y="914400"/>
            <a:ext cx="1920240" cy="320040"/>
          </a:xfrm>
          <a:prstGeom prst="roundRect">
            <a:avLst/>
          </a:prstGeom>
          <a:solidFill>
            <a:srgbClr val="32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▲▼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7872" y="914400"/>
            <a:ext cx="1920240" cy="320040"/>
          </a:xfrm>
          <a:prstGeom prst="roundRect">
            <a:avLst/>
          </a:prstGeom>
          <a:solidFill>
            <a:srgbClr val="32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◀▶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04688" y="914400"/>
            <a:ext cx="1920240" cy="320040"/>
          </a:xfrm>
          <a:prstGeom prst="roundRect">
            <a:avLst/>
          </a:prstGeom>
          <a:solidFill>
            <a:srgbClr val="32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61504" y="914400"/>
            <a:ext cx="1645920" cy="320040"/>
          </a:xfrm>
          <a:prstGeom prst="roundRect">
            <a:avLst/>
          </a:prstGeom>
          <a:solidFill>
            <a:srgbClr val="32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설정/저장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914400"/>
            <a:ext cx="2743200" cy="320040"/>
          </a:xfrm>
          <a:prstGeom prst="roundRect">
            <a:avLst/>
          </a:prstGeom>
          <a:solidFill>
            <a:srgbClr val="32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복귀 방법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" y="1298448"/>
            <a:ext cx="1371600" cy="685800"/>
          </a:xfrm>
          <a:prstGeom prst="roundRect">
            <a:avLst/>
          </a:prstGeom>
          <a:solidFill>
            <a:srgbClr val="23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C8CDD7"/>
                </a:solidFill>
              </a:defRPr>
            </a:pPr>
            <a:r>
              <a:t>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91056" y="1298448"/>
            <a:ext cx="1920240" cy="685800"/>
          </a:xfrm>
          <a:prstGeom prst="roundRect">
            <a:avLst/>
          </a:prstGeom>
          <a:solidFill>
            <a:srgbClr val="23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1298448"/>
            <a:ext cx="1920240" cy="685800"/>
          </a:xfrm>
          <a:prstGeom prst="roundRect">
            <a:avLst/>
          </a:prstGeom>
          <a:solidFill>
            <a:srgbClr val="23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04688" y="1298448"/>
            <a:ext cx="1920240" cy="685800"/>
          </a:xfrm>
          <a:prstGeom prst="roundRect">
            <a:avLst/>
          </a:prstGeom>
          <a:solidFill>
            <a:srgbClr val="23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61504" y="1298448"/>
            <a:ext cx="1645920" cy="685800"/>
          </a:xfrm>
          <a:prstGeom prst="roundRect">
            <a:avLst/>
          </a:prstGeom>
          <a:solidFill>
            <a:srgbClr val="23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설정 진입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298448"/>
            <a:ext cx="2743200" cy="685800"/>
          </a:xfrm>
          <a:prstGeom prst="roundRect">
            <a:avLst/>
          </a:prstGeom>
          <a:solidFill>
            <a:srgbClr val="233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전원 숏=초기위치</a:t>
            </a:r>
            <a:br/>
            <a:r>
              <a:t>전원 롱=종료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" y="2048255"/>
            <a:ext cx="1371600" cy="685800"/>
          </a:xfrm>
          <a:prstGeom prst="round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C8CDD7"/>
                </a:solidFill>
              </a:defRPr>
            </a:pPr>
            <a:r>
              <a:t>체압분산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91056" y="2048255"/>
            <a:ext cx="1920240" cy="685800"/>
          </a:xfrm>
          <a:prstGeom prst="round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부위 이동</a:t>
            </a:r>
            <a:br/>
            <a:r>
              <a:t>(BODY/SET)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7872" y="2048255"/>
            <a:ext cx="1920240" cy="685800"/>
          </a:xfrm>
          <a:prstGeom prst="round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활성토글</a:t>
            </a:r>
            <a:br/>
            <a:r>
              <a:t>/ 값 조절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04688" y="2048255"/>
            <a:ext cx="1920240" cy="685800"/>
          </a:xfrm>
          <a:prstGeom prst="round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시작/정지</a:t>
            </a:r>
            <a:br/>
            <a:r>
              <a:t>BODY↔SET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61504" y="2048255"/>
            <a:ext cx="1645920" cy="685800"/>
          </a:xfrm>
          <a:prstGeom prst="round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저장/뒤로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048255"/>
            <a:ext cx="2743200" cy="685800"/>
          </a:xfrm>
          <a:prstGeom prst="roundRect">
            <a:avLst/>
          </a:prstGeom>
          <a:solidFill>
            <a:srgbClr val="283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모드키=홈</a:t>
            </a:r>
            <a:br/>
            <a:r>
              <a:t>30초=자동홈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" y="2798063"/>
            <a:ext cx="1371600" cy="685800"/>
          </a:xfrm>
          <a:prstGeom prst="roundRect">
            <a:avLst/>
          </a:prstGeom>
          <a:solidFill>
            <a:srgbClr val="23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C8CDD7"/>
                </a:solidFill>
              </a:defRPr>
            </a:pPr>
            <a:r>
              <a:t>교대부양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91056" y="2798063"/>
            <a:ext cx="1920240" cy="685800"/>
          </a:xfrm>
          <a:prstGeom prst="roundRect">
            <a:avLst/>
          </a:prstGeom>
          <a:solidFill>
            <a:srgbClr val="23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부위 이동</a:t>
            </a:r>
            <a:br/>
            <a:r>
              <a:t>(BODY/SET)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47872" y="2798063"/>
            <a:ext cx="1920240" cy="685800"/>
          </a:xfrm>
          <a:prstGeom prst="roundRect">
            <a:avLst/>
          </a:prstGeom>
          <a:solidFill>
            <a:srgbClr val="23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타입 전환</a:t>
            </a:r>
            <a:br/>
            <a:r>
              <a:t>/ 값 조절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04688" y="2798063"/>
            <a:ext cx="1920240" cy="685800"/>
          </a:xfrm>
          <a:prstGeom prst="roundRect">
            <a:avLst/>
          </a:prstGeom>
          <a:solidFill>
            <a:srgbClr val="23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시작/정지</a:t>
            </a:r>
            <a:br/>
            <a:r>
              <a:t>BODY↔SET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61504" y="2798063"/>
            <a:ext cx="1645920" cy="685800"/>
          </a:xfrm>
          <a:prstGeom prst="roundRect">
            <a:avLst/>
          </a:prstGeom>
          <a:solidFill>
            <a:srgbClr val="23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저장/뒤로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2798063"/>
            <a:ext cx="2743200" cy="685800"/>
          </a:xfrm>
          <a:prstGeom prst="roundRect">
            <a:avLst/>
          </a:prstGeom>
          <a:solidFill>
            <a:srgbClr val="23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모드키=홈</a:t>
            </a:r>
            <a:br/>
            <a:r>
              <a:t>30초=자동홈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" y="3547872"/>
            <a:ext cx="1371600" cy="685800"/>
          </a:xfrm>
          <a:prstGeom prst="roundRect">
            <a:avLst/>
          </a:prstGeom>
          <a:solidFill>
            <a:srgbClr val="3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C8CDD7"/>
                </a:solidFill>
              </a:defRPr>
            </a:pPr>
            <a:r>
              <a:t>마사지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91056" y="3547872"/>
            <a:ext cx="1920240" cy="685800"/>
          </a:xfrm>
          <a:prstGeom prst="roundRect">
            <a:avLst/>
          </a:prstGeom>
          <a:solidFill>
            <a:srgbClr val="3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부위 이동</a:t>
            </a:r>
            <a:br/>
            <a:r>
              <a:t>(BODY/SET)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47872" y="3547872"/>
            <a:ext cx="1920240" cy="685800"/>
          </a:xfrm>
          <a:prstGeom prst="roundRect">
            <a:avLst/>
          </a:prstGeom>
          <a:solidFill>
            <a:srgbClr val="3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타입(1~12)</a:t>
            </a:r>
            <a:br/>
            <a:r>
              <a:t>/ 값 조절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04688" y="3547872"/>
            <a:ext cx="1920240" cy="685800"/>
          </a:xfrm>
          <a:prstGeom prst="roundRect">
            <a:avLst/>
          </a:prstGeom>
          <a:solidFill>
            <a:srgbClr val="3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시작/정지</a:t>
            </a:r>
            <a:br/>
            <a:r>
              <a:t>BODY↔SET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61504" y="3547872"/>
            <a:ext cx="1645920" cy="685800"/>
          </a:xfrm>
          <a:prstGeom prst="roundRect">
            <a:avLst/>
          </a:prstGeom>
          <a:solidFill>
            <a:srgbClr val="3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저장/뒤로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547872"/>
            <a:ext cx="2743200" cy="685800"/>
          </a:xfrm>
          <a:prstGeom prst="roundRect">
            <a:avLst/>
          </a:prstGeom>
          <a:solidFill>
            <a:srgbClr val="37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모드키=홈</a:t>
            </a:r>
            <a:br/>
            <a:r>
              <a:t>동작 유지됨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" y="4297679"/>
            <a:ext cx="1371600" cy="685800"/>
          </a:xfrm>
          <a:prstGeom prst="roundRect">
            <a:avLst/>
          </a:prstGeom>
          <a:solidFill>
            <a:srgbClr val="3C3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C8CDD7"/>
                </a:solidFill>
              </a:defRPr>
            </a:pPr>
            <a:r>
              <a:t>돌봄케어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91056" y="4297679"/>
            <a:ext cx="1920240" cy="685800"/>
          </a:xfrm>
          <a:prstGeom prst="roundRect">
            <a:avLst/>
          </a:prstGeom>
          <a:solidFill>
            <a:srgbClr val="3C3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타입 전환</a:t>
            </a:r>
            <a:br/>
            <a:r>
              <a:t>(제안)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47872" y="4297679"/>
            <a:ext cx="1920240" cy="685800"/>
          </a:xfrm>
          <a:prstGeom prst="roundRect">
            <a:avLst/>
          </a:prstGeom>
          <a:solidFill>
            <a:srgbClr val="3C3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타입 전환</a:t>
            </a:r>
            <a:br/>
            <a:r>
              <a:t>/ 틸팅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04688" y="4297679"/>
            <a:ext cx="1920240" cy="685800"/>
          </a:xfrm>
          <a:prstGeom prst="roundRect">
            <a:avLst/>
          </a:prstGeom>
          <a:solidFill>
            <a:srgbClr val="3C3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ON/OFF</a:t>
            </a:r>
            <a:br/>
            <a:r>
              <a:t>토글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61504" y="4297679"/>
            <a:ext cx="1645920" cy="685800"/>
          </a:xfrm>
          <a:prstGeom prst="roundRect">
            <a:avLst/>
          </a:prstGeom>
          <a:solidFill>
            <a:srgbClr val="3C3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홈 복귀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297679"/>
            <a:ext cx="2743200" cy="685800"/>
          </a:xfrm>
          <a:prstGeom prst="roundRect">
            <a:avLst/>
          </a:prstGeom>
          <a:solidFill>
            <a:srgbClr val="3C3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모드키=홈</a:t>
            </a:r>
            <a:br/>
            <a:r>
              <a:t>정지됨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2880" y="5047488"/>
            <a:ext cx="1371600" cy="685800"/>
          </a:xfrm>
          <a:prstGeom prst="round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C8CDD7"/>
                </a:solidFill>
              </a:defRPr>
            </a:pPr>
            <a:r>
              <a:t>자세제어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91056" y="5047488"/>
            <a:ext cx="1920240" cy="685800"/>
          </a:xfrm>
          <a:prstGeom prst="round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모터 올림</a:t>
            </a:r>
            <a:br/>
            <a:r>
              <a:t>내림(누름/뗌)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47872" y="5047488"/>
            <a:ext cx="1920240" cy="685800"/>
          </a:xfrm>
          <a:prstGeom prst="round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탭 전환</a:t>
            </a:r>
            <a:br/>
            <a:r>
              <a:t>등/다리/프리셋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04688" y="5047488"/>
            <a:ext cx="1920240" cy="685800"/>
          </a:xfrm>
          <a:prstGeom prst="round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정지</a:t>
            </a:r>
            <a:br/>
            <a:r>
              <a:t>프리셋 실행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61504" y="5047488"/>
            <a:ext cx="1645920" cy="685800"/>
          </a:xfrm>
          <a:prstGeom prst="round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5047488"/>
            <a:ext cx="2743200" cy="685800"/>
          </a:xfrm>
          <a:prstGeom prst="roundRect">
            <a:avLst/>
          </a:prstGeom>
          <a:solidFill>
            <a:srgbClr val="1E3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모드키=홈</a:t>
            </a:r>
            <a:br/>
            <a:r>
              <a:t>모터 정지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" y="5797296"/>
            <a:ext cx="1371600" cy="685800"/>
          </a:xfrm>
          <a:prstGeom prst="roundRect">
            <a:avLst/>
          </a:prstGeom>
          <a:solidFill>
            <a:srgbClr val="41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1">
                <a:solidFill>
                  <a:srgbClr val="C8CDD7"/>
                </a:solidFill>
              </a:defRPr>
            </a:pPr>
            <a:r>
              <a:t>낙상경고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91056" y="5797296"/>
            <a:ext cx="1920240" cy="685800"/>
          </a:xfrm>
          <a:prstGeom prst="roundRect">
            <a:avLst/>
          </a:prstGeom>
          <a:solidFill>
            <a:srgbClr val="41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47872" y="5797296"/>
            <a:ext cx="1920240" cy="685800"/>
          </a:xfrm>
          <a:prstGeom prst="roundRect">
            <a:avLst/>
          </a:prstGeom>
          <a:solidFill>
            <a:srgbClr val="41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04688" y="5797296"/>
            <a:ext cx="1920240" cy="685800"/>
          </a:xfrm>
          <a:prstGeom prst="roundRect">
            <a:avLst/>
          </a:prstGeom>
          <a:solidFill>
            <a:srgbClr val="41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해제→홈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61504" y="5797296"/>
            <a:ext cx="1645920" cy="685800"/>
          </a:xfrm>
          <a:prstGeom prst="roundRect">
            <a:avLst/>
          </a:prstGeom>
          <a:solidFill>
            <a:srgbClr val="41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5797296"/>
            <a:ext cx="2743200" cy="685800"/>
          </a:xfrm>
          <a:prstGeom prst="roundRect">
            <a:avLst/>
          </a:prstGeom>
          <a:solidFill>
            <a:srgbClr val="41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 b="0">
                <a:solidFill>
                  <a:srgbClr val="C8CDD7"/>
                </a:solidFill>
              </a:defRPr>
            </a:pPr>
            <a:r>
              <a:t>확인키만</a:t>
            </a:r>
            <a:br/>
            <a:r>
              <a:t>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8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구현 로드맵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3657600" cy="457200"/>
          </a:xfrm>
          <a:prstGeom prst="roundRect">
            <a:avLst/>
          </a:prstGeom>
          <a:solidFill>
            <a:srgbClr val="DC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Phase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3657600" cy="438912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C8CDD7"/>
                </a:solidFill>
              </a:defRPr>
            </a:pPr>
            <a:r>
              <a:t>✅ 홈 화면 리디자인 (체압맵+단면도+배지)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965960"/>
            <a:ext cx="3657600" cy="438912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C8CDD7"/>
                </a:solidFill>
              </a:defRPr>
            </a:pPr>
            <a:r>
              <a:t>✅ 상태 바 전 화면 적용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468880"/>
            <a:ext cx="3657600" cy="438912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C8CDD7"/>
                </a:solidFill>
              </a:defRPr>
            </a:pPr>
            <a:r>
              <a:t>⬜ 온열/통풍 화면 피드백 추가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971800"/>
            <a:ext cx="3657600" cy="438912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C8CDD7"/>
                </a:solidFill>
              </a:defRPr>
            </a:pPr>
            <a:r>
              <a:t>⬜ 낙상 경고 해제 버그 수정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474720"/>
            <a:ext cx="3657600" cy="438912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C8CDD7"/>
                </a:solidFill>
              </a:defRPr>
            </a:pPr>
            <a:r>
              <a:t>⬜ 자동 홈 복귀 타이머 (30초)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977639"/>
            <a:ext cx="3657600" cy="438912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C8CDD7"/>
                </a:solidFill>
              </a:defRPr>
            </a:pPr>
            <a:r>
              <a:t>⬜ 자세제어 키 진입/탈출 대칭 수정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914400"/>
            <a:ext cx="3657600" cy="457200"/>
          </a:xfrm>
          <a:prstGeom prst="roundRect">
            <a:avLst/>
          </a:prstGeom>
          <a:solidFill>
            <a:srgbClr val="F0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Phase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463040"/>
            <a:ext cx="3657600" cy="438912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C8CDD7"/>
                </a:solidFill>
              </a:defRPr>
            </a:pPr>
            <a:r>
              <a:t>⬜ 커서 상태 인디케이터 추가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965960"/>
            <a:ext cx="3657600" cy="438912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C8CDD7"/>
                </a:solidFill>
              </a:defRPr>
            </a:pPr>
            <a:r>
              <a:t>⬜ 확인키 동작 통일 (시작→홈복귀)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2468880"/>
            <a:ext cx="3657600" cy="438912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C8CDD7"/>
                </a:solidFill>
              </a:defRPr>
            </a:pPr>
            <a:r>
              <a:t>⬜ 자세제어 프리셋 모드 (식사/수면/안락/긴급)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971800"/>
            <a:ext cx="3657600" cy="438912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C8CDD7"/>
                </a:solidFill>
              </a:defRPr>
            </a:pPr>
            <a:r>
              <a:t>⬜ 돌봄케어 ▲▼ 네비게이션 추가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474720"/>
            <a:ext cx="3657600" cy="438912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C8CDD7"/>
                </a:solidFill>
              </a:defRPr>
            </a:pPr>
            <a:r>
              <a:t>⬜ 설정키 동작 통일 (저장/뒤로)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977639"/>
            <a:ext cx="3657600" cy="438912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C8CDD7"/>
                </a:solidFill>
              </a:defRPr>
            </a:pPr>
            <a:r>
              <a:t>⬜ 모드 진입 시 기능 설명 표시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914400"/>
            <a:ext cx="3657600" cy="457200"/>
          </a:xfrm>
          <a:prstGeom prst="roundRect">
            <a:avLst/>
          </a:prstGeom>
          <a:solidFill>
            <a:srgbClr val="32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Phase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463040"/>
            <a:ext cx="3657600" cy="438912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C8CDD7"/>
                </a:solidFill>
              </a:defRPr>
            </a:pPr>
            <a:r>
              <a:t>⬜ 체압 데이터 트렌드 표시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965960"/>
            <a:ext cx="3657600" cy="438912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C8CDD7"/>
                </a:solidFill>
              </a:defRPr>
            </a:pPr>
            <a:r>
              <a:t>⬜ 자동 체압분산 스케줄링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468880"/>
            <a:ext cx="3657600" cy="438912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C8CDD7"/>
                </a:solidFill>
              </a:defRPr>
            </a:pPr>
            <a:r>
              <a:t>⬜ 매트리스 실시간 각도 표시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2971800"/>
            <a:ext cx="3657600" cy="438912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C8CDD7"/>
                </a:solidFill>
              </a:defRPr>
            </a:pPr>
            <a:r>
              <a:t>⬜ 보호자 알림 연동 (BLE/WiFi)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474720"/>
            <a:ext cx="3657600" cy="438912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C8CDD7"/>
                </a:solidFill>
              </a:defRPr>
            </a:pPr>
            <a:r>
              <a:t>⬜ 매트리스 캘리브레이션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977639"/>
            <a:ext cx="3657600" cy="438912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C8CDD7"/>
                </a:solidFill>
              </a:defRPr>
            </a:pPr>
            <a:r>
              <a:t>⬜ UI 애니메이션/트랜지션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846320"/>
            <a:ext cx="11612880" cy="173736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937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B464"/>
                </a:solidFill>
              </a:defRPr>
            </a:pPr>
            <a:r>
              <a:t>기대 효과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03520"/>
            <a:ext cx="2651760" cy="320040"/>
          </a:xfrm>
          <a:prstGeom prst="round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제품 차별화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669280"/>
            <a:ext cx="2651760" cy="731520"/>
          </a:xfrm>
          <a:prstGeom prst="roundRect">
            <a:avLst/>
          </a:prstGeom>
          <a:solidFill>
            <a:srgbClr val="37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C8CDD7"/>
                </a:solidFill>
              </a:defRPr>
            </a:pPr>
            <a:r>
              <a:t>체압 히트맵 = 첫 화면 임팩트</a:t>
            </a:r>
            <a:br/>
            <a:r>
              <a:t>경쟁사 대비 확실한 우위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5303520"/>
            <a:ext cx="2651760" cy="320040"/>
          </a:xfrm>
          <a:prstGeom prst="roundRect">
            <a:avLst/>
          </a:prstGeom>
          <a:solidFill>
            <a:srgbClr val="28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사용자 신뢰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5669280"/>
            <a:ext cx="2651760" cy="731520"/>
          </a:xfrm>
          <a:prstGeom prst="roundRect">
            <a:avLst/>
          </a:prstGeom>
          <a:solidFill>
            <a:srgbClr val="37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C8CDD7"/>
                </a:solidFill>
              </a:defRPr>
            </a:pPr>
            <a:r>
              <a:t>실시간 데이터 = 전문 의료기기</a:t>
            </a:r>
            <a:br/>
            <a:r>
              <a:t>환자/보호자 안심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303520"/>
            <a:ext cx="2651760" cy="320040"/>
          </a:xfrm>
          <a:prstGeom prst="roundRect">
            <a:avLst/>
          </a:prstGeom>
          <a:solidFill>
            <a:srgbClr val="328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운영 효율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669280"/>
            <a:ext cx="2651760" cy="731520"/>
          </a:xfrm>
          <a:prstGeom prst="roundRect">
            <a:avLst/>
          </a:prstGeom>
          <a:solidFill>
            <a:srgbClr val="37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C8CDD7"/>
                </a:solidFill>
              </a:defRPr>
            </a:pPr>
            <a:r>
              <a:t>상태 한눈에 파악</a:t>
            </a:r>
            <a:br/>
            <a:r>
              <a:t>간병인 교대 시 정보 전달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5303520"/>
            <a:ext cx="2651760" cy="320040"/>
          </a:xfrm>
          <a:prstGeom prst="roundRect">
            <a:avLst/>
          </a:prstGeom>
          <a:solidFill>
            <a:srgbClr val="DC4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안전성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5669280"/>
            <a:ext cx="2651760" cy="731520"/>
          </a:xfrm>
          <a:prstGeom prst="roundRect">
            <a:avLst/>
          </a:prstGeom>
          <a:solidFill>
            <a:srgbClr val="37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800" b="0">
                <a:solidFill>
                  <a:srgbClr val="C8CDD7"/>
                </a:solidFill>
              </a:defRPr>
            </a:pPr>
            <a:r>
              <a:t>욕창 위험 즉시 인지</a:t>
            </a:r>
            <a:br/>
            <a:r>
              <a:t>긴급 평탄화 프리셋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8B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NINEBELL SMART CARE BED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603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282DC"/>
                </a:solidFill>
              </a:defRPr>
            </a:pPr>
            <a:r>
              <a:t>UI/UX 상세 스토리보드 v3.0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5B4"/>
                </a:solidFill>
              </a:defRPr>
            </a:pPr>
            <a:r>
              <a:t>의견 및 피드백을 부탁드립니다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4572000"/>
            <a:ext cx="2011680" cy="45720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DC4632"/>
                </a:solidFill>
              </a:defRPr>
            </a:pPr>
            <a:r>
              <a:t>Phase 1</a:t>
            </a:r>
            <a:br/>
            <a:r>
              <a:t>즉시 적용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2011680" cy="45720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0A028"/>
                </a:solidFill>
              </a:defRPr>
            </a:pPr>
            <a:r>
              <a:t>Phase 2</a:t>
            </a:r>
            <a:br/>
            <a:r>
              <a:t>1개월 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572000"/>
            <a:ext cx="2011680" cy="457200"/>
          </a:xfrm>
          <a:prstGeom prst="roundRect">
            <a:avLst/>
          </a:prstGeom>
          <a:solidFill>
            <a:srgbClr val="2D3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3282DC"/>
                </a:solidFill>
              </a:defRPr>
            </a:pPr>
            <a:r>
              <a:t>Phase 3</a:t>
            </a:r>
            <a:br/>
            <a:r>
              <a:t>2개월 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5B4"/>
                </a:solidFill>
              </a:defRPr>
            </a:pPr>
            <a:r>
              <a:t>NINEBELL  |  2026.04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3251</Words>
  <Application>Microsoft Office PowerPoint</Application>
  <PresentationFormat>와이드스크린</PresentationFormat>
  <Paragraphs>702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sg lee</cp:lastModifiedBy>
  <cp:revision>2</cp:revision>
  <dcterms:created xsi:type="dcterms:W3CDTF">2013-01-27T09:14:16Z</dcterms:created>
  <dcterms:modified xsi:type="dcterms:W3CDTF">2026-04-03T08:13:44Z</dcterms:modified>
  <cp:category/>
</cp:coreProperties>
</file>